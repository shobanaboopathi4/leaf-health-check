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slideLayout" Target="../slideLayouts/slideLayout9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The Leaf Health Check: A Guide to Thriving Plants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Master the art of plant health diagnosis through comprehensive leaf analysis and expert care techniques.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2155" y="756404"/>
            <a:ext cx="9117925" cy="481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Why Healthy Leaves Matter: The Plant's Vital Signs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155" y="1531144"/>
            <a:ext cx="6767274" cy="3777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6147" y="2268022"/>
            <a:ext cx="3459718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Leaves serve as nature's dashboard, displaying vital information about plant health. Each leaf functions as a miniature factory, converting sunlight into energy whilst regulating water and nutrient flow.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176147" y="3469958"/>
            <a:ext cx="3459718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When leaves display signs of distress—discoloration, wilting, or abnormal growth—it signals that something requires attention. Understanding these visual cues enables timely intervention before problems escalate.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002155" y="5559623"/>
            <a:ext cx="3467457" cy="1913453"/>
          </a:xfrm>
          <a:prstGeom prst="roundRect">
            <a:avLst>
              <a:gd name="adj" fmla="val 35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73367" y="5730835"/>
            <a:ext cx="490776" cy="490776"/>
          </a:xfrm>
          <a:prstGeom prst="roundRect">
            <a:avLst>
              <a:gd name="adj" fmla="val 18629855"/>
            </a:avLst>
          </a:prstGeom>
          <a:solidFill>
            <a:srgbClr val="F2037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8265" y="5865733"/>
            <a:ext cx="220861" cy="2208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73367" y="6333411"/>
            <a:ext cx="2610445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Photosynthesis Powerhouses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173367" y="6641068"/>
            <a:ext cx="312503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Leaves convert light into chemical energy, fueling all plant growth and development.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581412" y="5559623"/>
            <a:ext cx="3467457" cy="1913453"/>
          </a:xfrm>
          <a:prstGeom prst="roundRect">
            <a:avLst>
              <a:gd name="adj" fmla="val 35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52624" y="5730835"/>
            <a:ext cx="490776" cy="490776"/>
          </a:xfrm>
          <a:prstGeom prst="roundRect">
            <a:avLst>
              <a:gd name="adj" fmla="val 18629855"/>
            </a:avLst>
          </a:prstGeom>
          <a:solidFill>
            <a:srgbClr val="F2037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7522" y="5865733"/>
            <a:ext cx="220861" cy="220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52624" y="6333411"/>
            <a:ext cx="192500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Water Management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752624" y="6641068"/>
            <a:ext cx="312503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Leaves regulate transpiration, controlling moisture balance and nutrient transport.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60669" y="5559623"/>
            <a:ext cx="3467576" cy="1913453"/>
          </a:xfrm>
          <a:prstGeom prst="roundRect">
            <a:avLst>
              <a:gd name="adj" fmla="val 35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31881" y="5730835"/>
            <a:ext cx="490776" cy="490776"/>
          </a:xfrm>
          <a:prstGeom prst="roundRect">
            <a:avLst>
              <a:gd name="adj" fmla="val 18629855"/>
            </a:avLst>
          </a:prstGeom>
          <a:solidFill>
            <a:srgbClr val="F2037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6778" y="5865733"/>
            <a:ext cx="220861" cy="2208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31881" y="6333411"/>
            <a:ext cx="1925003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Health Indicators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331881" y="6641068"/>
            <a:ext cx="3125153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Color, texture, and shape reveal nutrient levels, pest presence, and disease conditions.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1938" y="1541026"/>
            <a:ext cx="8152924" cy="83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Understanding Leaf Anatomy: What Makes a Healthy Leaf?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981938" y="2499241"/>
            <a:ext cx="8152924" cy="36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Familiarity with leaf structure enables accurate diagnosis of problems. Healthy leaves display consistent coloration, firm texture, and symmetrical growth patterns.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1938" y="2953702"/>
            <a:ext cx="141565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81938" y="3178969"/>
            <a:ext cx="8152924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7" name="Text 4"/>
          <p:cNvSpPr/>
          <p:nvPr/>
        </p:nvSpPr>
        <p:spPr>
          <a:xfrm>
            <a:off x="5981938" y="3280172"/>
            <a:ext cx="1665684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Epidermis Protection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81938" y="3538418"/>
            <a:ext cx="8152924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outermost layer provides defence against pests and environmental stress whilst minimising water loss.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1938" y="3908346"/>
            <a:ext cx="141565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81938" y="4133612"/>
            <a:ext cx="8152924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1" name="Text 8"/>
          <p:cNvSpPr/>
          <p:nvPr/>
        </p:nvSpPr>
        <p:spPr>
          <a:xfrm>
            <a:off x="5981938" y="4234815"/>
            <a:ext cx="1665684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Palisade Mesophyll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1938" y="4493062"/>
            <a:ext cx="8152924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Dense cells packed with chloroplasts capture sunlight for photosynthesis in this critical layer.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1938" y="4862989"/>
            <a:ext cx="141565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1938" y="5088255"/>
            <a:ext cx="8152924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5" name="Text 12"/>
          <p:cNvSpPr/>
          <p:nvPr/>
        </p:nvSpPr>
        <p:spPr>
          <a:xfrm>
            <a:off x="5981938" y="5189458"/>
            <a:ext cx="1665684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Spongy Mesophyll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81938" y="5447705"/>
            <a:ext cx="8152924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Air spaces facilitate gas exchange, allowing carbon dioxide in and oxygen out during respiration.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1938" y="5817632"/>
            <a:ext cx="141565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1938" y="6042898"/>
            <a:ext cx="8152924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9" name="Text 16"/>
          <p:cNvSpPr/>
          <p:nvPr/>
        </p:nvSpPr>
        <p:spPr>
          <a:xfrm>
            <a:off x="5981938" y="6144101"/>
            <a:ext cx="1665684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Vascular Bundles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81938" y="6402348"/>
            <a:ext cx="8152924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Xylem and phloem transport water, minerals, and sugars throughout the plant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6264" y="724019"/>
            <a:ext cx="9296400" cy="43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Common Leaf Ailments: Pests, Diseases, and Deficiencies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264" y="1401961"/>
            <a:ext cx="6137910" cy="3425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03744" y="2730460"/>
            <a:ext cx="3137892" cy="768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Recognising common leaf problems empowers gardeners to address issues promptly. Each ailment presents distinctive symptoms requiring specific treatment approaches.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6264" y="5034677"/>
            <a:ext cx="370999" cy="3709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96264" y="5520571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Pest Infestations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496264" y="5793819"/>
            <a:ext cx="4761428" cy="3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Visible insects, webbing, or stippling indicate aphids, mites, or scale. Check undersides for eggs and colonies.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2588" y="5034677"/>
            <a:ext cx="370999" cy="3709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72588" y="5520571"/>
            <a:ext cx="2261949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Fungal &amp; Bacterial Diseases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372588" y="5793819"/>
            <a:ext cx="4761548" cy="3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Spots, mould, or rot patterns reveal pathogens. Circular lesions often indicate fungal infections.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6264" y="6362105"/>
            <a:ext cx="370999" cy="3709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96264" y="6847999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Nutrient Deficiencies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2496264" y="7121247"/>
            <a:ext cx="4761428" cy="3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Yellowing, purpling, or distorted growth signals missing nutrients like nitrogen, iron, or magnesium.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2588" y="6362105"/>
            <a:ext cx="370999" cy="3709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72588" y="6847999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Environmental Stress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7372588" y="7121247"/>
            <a:ext cx="4761548" cy="3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Browning edges, wilting, or scorching result from improper watering, light, or temperature conditions.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6608" y="1449348"/>
            <a:ext cx="10006489" cy="53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Diagnosing the Problem: A Step-by-Step Approach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36608" y="2255639"/>
            <a:ext cx="11757184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Systematic examination ensures accurate identification of leaf issues. Follow this logical progression to pinpoint causes effectively.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08071" y="3116461"/>
            <a:ext cx="5538549" cy="180975"/>
          </a:xfrm>
          <a:prstGeom prst="roundRect">
            <a:avLst>
              <a:gd name="adj" fmla="val 420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6608" y="2935426"/>
            <a:ext cx="543044" cy="543044"/>
          </a:xfrm>
          <a:prstGeom prst="roundRect">
            <a:avLst>
              <a:gd name="adj" fmla="val 841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2339" y="3071158"/>
            <a:ext cx="271463" cy="2714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7583" y="3615452"/>
            <a:ext cx="212990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Observe Patterns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17583" y="3963829"/>
            <a:ext cx="5448181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Note whether problems affect specific leaves, entire plants, or multiple species. Document timing and progression.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55123" y="2844998"/>
            <a:ext cx="5538549" cy="180975"/>
          </a:xfrm>
          <a:prstGeom prst="roundRect">
            <a:avLst>
              <a:gd name="adj" fmla="val 420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3661" y="2663964"/>
            <a:ext cx="543044" cy="543044"/>
          </a:xfrm>
          <a:prstGeom prst="roundRect">
            <a:avLst>
              <a:gd name="adj" fmla="val 841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9392" y="2799695"/>
            <a:ext cx="271463" cy="2714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4636" y="3343989"/>
            <a:ext cx="212990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Inspect Thoroughly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564636" y="3692366"/>
            <a:ext cx="5448181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Examine upper and lower surfaces, stems, and surrounding soil. Look for insects, eggs, webbing, or unusual markings.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708071" y="5243036"/>
            <a:ext cx="5538549" cy="180975"/>
          </a:xfrm>
          <a:prstGeom prst="roundRect">
            <a:avLst>
              <a:gd name="adj" fmla="val 420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436608" y="5062002"/>
            <a:ext cx="543044" cy="543044"/>
          </a:xfrm>
          <a:prstGeom prst="roundRect">
            <a:avLst>
              <a:gd name="adj" fmla="val 841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2339" y="5197733"/>
            <a:ext cx="271463" cy="2714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17583" y="5742027"/>
            <a:ext cx="212990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Check Conditions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17583" y="6090404"/>
            <a:ext cx="5448181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Review watering schedule, light exposure, fertiliser use, and recent environmental changes that may contribute.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655123" y="4971574"/>
            <a:ext cx="5538549" cy="180975"/>
          </a:xfrm>
          <a:prstGeom prst="roundRect">
            <a:avLst>
              <a:gd name="adj" fmla="val 420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83661" y="4790539"/>
            <a:ext cx="543044" cy="543044"/>
          </a:xfrm>
          <a:prstGeom prst="roundRect">
            <a:avLst>
              <a:gd name="adj" fmla="val 8419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9392" y="4926270"/>
            <a:ext cx="271463" cy="27146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4636" y="5470565"/>
            <a:ext cx="212990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Compare Symptoms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564636" y="5818942"/>
            <a:ext cx="5448181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Match observations to reference materials or consult experts to confirm diagnosis before treatment.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9163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Tools and Techniques for Leaf Inspection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697956"/>
            <a:ext cx="33891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Essential Inspection Tools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289221"/>
            <a:ext cx="3442335" cy="416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Hand lens or magnifying glass (10x power)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White paper for shaking insects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Clean cloth for wiping surfaces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Smartphone for photographing symptoms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Notebook for recording observations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71561" y="2697956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Effective Examination Techniques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71561" y="3641169"/>
            <a:ext cx="344233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Gently shake plant over paper to dislodge pests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Font typeface="+mj-lt"/>
              <a:buAutoNum type="arabicPeriod" startAt="2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lens to inspect leaf undersides and veins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Font typeface="+mj-lt"/>
              <a:buAutoNum type="arabicPeriod" startAt="3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Compare affected and healthy leaves side-by-side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Font typeface="+mj-lt"/>
              <a:buAutoNum type="arabicPeriod" startAt="4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Document symptoms with clear photographs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2849" y="1354812"/>
            <a:ext cx="10748724" cy="49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From Diagnosis to Action: Practical Solutions for Recovery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2849" y="2087761"/>
            <a:ext cx="1094470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Once the problem is identified, implement targeted treatments addressing root causes rather than merely treating symptoms.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849" y="2451021"/>
            <a:ext cx="5472351" cy="6741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323" y="3243739"/>
            <a:ext cx="198274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Physical Removal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011323" y="3562588"/>
            <a:ext cx="51354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Wash leaves with water, remove affected foliage, or manually eliminate visible pests using appropriate tools.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451021"/>
            <a:ext cx="5472351" cy="6741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83673" y="3243739"/>
            <a:ext cx="198274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Natural Remedies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483673" y="3562588"/>
            <a:ext cx="51354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insecticidal soap, neem oil, or horticultural oils for organic pest control without chemical residues.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849" y="4190643"/>
            <a:ext cx="5472351" cy="6741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11323" y="4983361"/>
            <a:ext cx="198274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Chemical Treatments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2011323" y="5302210"/>
            <a:ext cx="51354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targeted pesticides or fungicides when natural methods prove insufficient, following label instructions precisely.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90643"/>
            <a:ext cx="5472351" cy="6741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83673" y="4983361"/>
            <a:ext cx="2570440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Environmental Adjustments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483673" y="5302210"/>
            <a:ext cx="51354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Modify watering, lighting, or fertilisation practices to correct underlying conditions causing stress.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1842849" y="6063734"/>
            <a:ext cx="10944701" cy="811054"/>
          </a:xfrm>
          <a:prstGeom prst="roundRect">
            <a:avLst>
              <a:gd name="adj" fmla="val 8727"/>
            </a:avLst>
          </a:prstGeom>
          <a:solidFill>
            <a:srgbClr val="4C012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323" y="6286738"/>
            <a:ext cx="210622" cy="1684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90418" y="6224349"/>
            <a:ext cx="1022865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Important: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Always test treatments on a small area first and monitor response before full application. Over-treatment can cause additional stress.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5190" y="990719"/>
            <a:ext cx="712982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Preventing Future Issues: Good Horticultural Practices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5190" y="1500426"/>
            <a:ext cx="4954667" cy="2765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79656" y="2595682"/>
            <a:ext cx="2533055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Proactive care prevents most leaf problems. Establish routines that create optimal growing conditions and strengthen plant resilience against pests and diseases.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425190" y="4400550"/>
            <a:ext cx="1899999" cy="1604724"/>
          </a:xfrm>
          <a:prstGeom prst="roundRect">
            <a:avLst>
              <a:gd name="adj" fmla="val 313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52587" y="4527947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1409" y="4626650"/>
            <a:ext cx="161687" cy="1616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52587" y="4947166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Proper Watering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52587" y="5159335"/>
            <a:ext cx="1645206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Water deeply but infrequently, allowing soil to dry slightly between sessions. Avoid wetting foliage during evening hours.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385078" y="4400550"/>
            <a:ext cx="1900118" cy="1604724"/>
          </a:xfrm>
          <a:prstGeom prst="roundRect">
            <a:avLst>
              <a:gd name="adj" fmla="val 313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512475" y="4527947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1297" y="4626650"/>
            <a:ext cx="161687" cy="1616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12475" y="4947166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Adequate Light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512475" y="5159335"/>
            <a:ext cx="1645325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Match plants to appropriate light conditions. Insufficient light weakens plants whilst excessive sun causes scorching.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7345085" y="4400550"/>
            <a:ext cx="1900118" cy="1604724"/>
          </a:xfrm>
          <a:prstGeom prst="roundRect">
            <a:avLst>
              <a:gd name="adj" fmla="val 313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72482" y="4527947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1303" y="4626650"/>
            <a:ext cx="161687" cy="1616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72482" y="4947166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Balanced Nutrition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472482" y="5159335"/>
            <a:ext cx="1645325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appropriate fertiliser during growing season, alternating types to prevent nutrient imbalances and deficiencies.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9305092" y="4400550"/>
            <a:ext cx="1900118" cy="1604724"/>
          </a:xfrm>
          <a:prstGeom prst="roundRect">
            <a:avLst>
              <a:gd name="adj" fmla="val 313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32488" y="4527947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31310" y="4626650"/>
            <a:ext cx="161687" cy="16168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2488" y="4947166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Sanitation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432488" y="5159335"/>
            <a:ext cx="1645325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Remove fallen leaves and debris, sterilise tools between uses, and isolate infected plants to prevent spread.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425190" y="6065163"/>
            <a:ext cx="3860006" cy="1173599"/>
          </a:xfrm>
          <a:prstGeom prst="roundRect">
            <a:avLst>
              <a:gd name="adj" fmla="val 428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552587" y="6192560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1409" y="6291263"/>
            <a:ext cx="161687" cy="16168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52587" y="6611779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Proper Spacing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3552587" y="6823948"/>
            <a:ext cx="3605212" cy="28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Adequate air circulation prevents fungal diseases. Thin overcrowded plants and avoid excessive humidity.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7345085" y="6065163"/>
            <a:ext cx="3860125" cy="1173599"/>
          </a:xfrm>
          <a:prstGeom prst="roundRect">
            <a:avLst>
              <a:gd name="adj" fmla="val 4287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472482" y="6192560"/>
            <a:ext cx="359331" cy="359331"/>
          </a:xfrm>
          <a:prstGeom prst="roundRect">
            <a:avLst>
              <a:gd name="adj" fmla="val 25444745"/>
            </a:avLst>
          </a:prstGeom>
          <a:solidFill>
            <a:srgbClr val="F20374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71303" y="6291263"/>
            <a:ext cx="161687" cy="16168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72482" y="6611779"/>
            <a:ext cx="140934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Regular Monitoring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472482" y="6823948"/>
            <a:ext cx="3605332" cy="28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Inspect plants weekly for early warning signs. Prompt intervention prevents minor issues becoming major problems.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8291" y="855821"/>
            <a:ext cx="7219712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Case Studies: Before &amp; After Success Stories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18291" y="1472684"/>
            <a:ext cx="959381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Real examples demonstrate effective diagnosis and treatment approaches. These transformations illustrate how proper leaf health management produces remarkable results.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911" y="2055138"/>
            <a:ext cx="1821180" cy="18211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201" y="2055138"/>
            <a:ext cx="1821180" cy="182118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91" y="2055138"/>
            <a:ext cx="1821299" cy="182129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055138"/>
            <a:ext cx="1821180" cy="18211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190" y="2055138"/>
            <a:ext cx="1821299" cy="1821299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5911" y="3994547"/>
            <a:ext cx="1821180" cy="182118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201" y="3994547"/>
            <a:ext cx="1821180" cy="182118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4491" y="3994547"/>
            <a:ext cx="1821299" cy="1821299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2518291" y="6089928"/>
            <a:ext cx="3121938" cy="487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95%</a:t>
            </a:r>
            <a:endParaRPr lang="en-US" sz="3800" dirty="0"/>
          </a:p>
        </p:txBody>
      </p:sp>
      <p:sp>
        <p:nvSpPr>
          <p:cNvPr id="13" name="Text 3"/>
          <p:cNvSpPr/>
          <p:nvPr/>
        </p:nvSpPr>
        <p:spPr>
          <a:xfrm>
            <a:off x="3210282" y="6719530"/>
            <a:ext cx="173795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Success Rate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2518291" y="6991469"/>
            <a:ext cx="312193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Plants fully recover when problems addressed within first two weeks of symptoms appearing</a:t>
            </a:r>
            <a:endParaRPr lang="en-US" sz="1150" dirty="0"/>
          </a:p>
        </p:txBody>
      </p:sp>
      <p:sp>
        <p:nvSpPr>
          <p:cNvPr id="15" name="Text 5"/>
          <p:cNvSpPr/>
          <p:nvPr/>
        </p:nvSpPr>
        <p:spPr>
          <a:xfrm>
            <a:off x="5754172" y="6089928"/>
            <a:ext cx="3121938" cy="487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70%</a:t>
            </a:r>
            <a:endParaRPr lang="en-US" sz="3800" dirty="0"/>
          </a:p>
        </p:txBody>
      </p:sp>
      <p:sp>
        <p:nvSpPr>
          <p:cNvPr id="16" name="Text 6"/>
          <p:cNvSpPr/>
          <p:nvPr/>
        </p:nvSpPr>
        <p:spPr>
          <a:xfrm>
            <a:off x="6446163" y="6719530"/>
            <a:ext cx="173795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Prevention</a:t>
            </a:r>
            <a:endParaRPr lang="en-US" sz="1350" dirty="0"/>
          </a:p>
        </p:txBody>
      </p:sp>
      <p:sp>
        <p:nvSpPr>
          <p:cNvPr id="17" name="Text 7"/>
          <p:cNvSpPr/>
          <p:nvPr/>
        </p:nvSpPr>
        <p:spPr>
          <a:xfrm>
            <a:off x="5754172" y="6991469"/>
            <a:ext cx="312193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Reduction in leaf problems achieved through consistent proper care and monitoring routines</a:t>
            </a:r>
            <a:endParaRPr lang="en-US" sz="1150" dirty="0"/>
          </a:p>
        </p:txBody>
      </p:sp>
      <p:sp>
        <p:nvSpPr>
          <p:cNvPr id="18" name="Text 8"/>
          <p:cNvSpPr/>
          <p:nvPr/>
        </p:nvSpPr>
        <p:spPr>
          <a:xfrm>
            <a:off x="8990052" y="6089928"/>
            <a:ext cx="3121938" cy="487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3x</a:t>
            </a:r>
            <a:endParaRPr lang="en-US" sz="3800" dirty="0"/>
          </a:p>
        </p:txBody>
      </p:sp>
      <p:sp>
        <p:nvSpPr>
          <p:cNvPr id="19" name="Text 9"/>
          <p:cNvSpPr/>
          <p:nvPr/>
        </p:nvSpPr>
        <p:spPr>
          <a:xfrm>
            <a:off x="9682043" y="6719530"/>
            <a:ext cx="1737955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Growth Increase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8990052" y="6991469"/>
            <a:ext cx="312193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Improved plant vigour and productivity following correction of underlying issues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7845" y="1220748"/>
            <a:ext cx="7529274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Q&amp;A and Resources for Your Leaf Health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57845" y="2435066"/>
            <a:ext cx="198143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Essential Resources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757845" y="2764988"/>
            <a:ext cx="2967514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Expand your knowledge with these valuable references and tools for continued learning about plant health and leaf diagnosis.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57845" y="3373398"/>
            <a:ext cx="2967514" cy="118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Local extension service diagnostic clinics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Botanical society publications and forums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Mobile apps for plant disease identification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Comprehensive gardening reference books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Online databases with symptom search tools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402" y="1849398"/>
            <a:ext cx="5804654" cy="32396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57845" y="5274112"/>
            <a:ext cx="2983349" cy="1100971"/>
          </a:xfrm>
          <a:prstGeom prst="roundRect">
            <a:avLst>
              <a:gd name="adj" fmla="val 5354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13340" y="5429607"/>
            <a:ext cx="2217063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Join Gardening Communities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13340" y="5685234"/>
            <a:ext cx="267235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Share experiences and photos with fellow enthusiasts who can offer diagnosis assistance and treatment suggestions.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23466" y="5274112"/>
            <a:ext cx="2983349" cy="1100971"/>
          </a:xfrm>
          <a:prstGeom prst="roundRect">
            <a:avLst>
              <a:gd name="adj" fmla="val 5354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78962" y="5429607"/>
            <a:ext cx="1857970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Document Your Journey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78962" y="5685234"/>
            <a:ext cx="2672358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Maintain records of symptoms, treatments, and outcomes to refine your diagnostic skills over time.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889087" y="5274112"/>
            <a:ext cx="2983468" cy="1100971"/>
          </a:xfrm>
          <a:prstGeom prst="roundRect">
            <a:avLst>
              <a:gd name="adj" fmla="val 5354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44583" y="5429607"/>
            <a:ext cx="1651159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Seek Expert Help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44583" y="5685234"/>
            <a:ext cx="267247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When uncertain, consult local nurseries, extension agents, or certified horticulturists for professional guidance.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68347" y="6560106"/>
            <a:ext cx="8904208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"The leaf health check transforms casual observation into systematic diagnosis, empowering gardeners to maintain thriving, resilient plants through informed care and timely intervention."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57845" y="6467594"/>
            <a:ext cx="15240" cy="541258"/>
          </a:xfrm>
          <a:prstGeom prst="rect">
            <a:avLst/>
          </a:prstGeom>
          <a:solidFill>
            <a:srgbClr val="F2037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2026-03-08T11:48:08Z</dcterms:created>
  <dcterms:modified xsi:type="dcterms:W3CDTF">2026-03-08T11:48:08Z</dcterms:modified>
</cp:coreProperties>
</file>